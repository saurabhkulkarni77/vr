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5720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6B4A"/>
          </a:solidFill>
          <a:ln/>
        </p:spPr>
      </p:sp>
      <p:sp>
        <p:nvSpPr>
          <p:cNvPr id="3" name="Shape 1"/>
          <p:cNvSpPr/>
          <p:nvPr/>
        </p:nvSpPr>
        <p:spPr>
          <a:xfrm>
            <a:off x="9637776" y="45720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A6B6B"/>
          </a:solidFill>
          <a:ln/>
        </p:spPr>
      </p:sp>
      <p:sp>
        <p:nvSpPr>
          <p:cNvPr id="4" name="Shape 2"/>
          <p:cNvSpPr/>
          <p:nvPr/>
        </p:nvSpPr>
        <p:spPr>
          <a:xfrm>
            <a:off x="9948672" y="45720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A6B6B"/>
          </a:solidFill>
          <a:ln/>
        </p:spPr>
      </p:sp>
      <p:sp>
        <p:nvSpPr>
          <p:cNvPr id="5" name="Shape 3"/>
          <p:cNvSpPr/>
          <p:nvPr/>
        </p:nvSpPr>
        <p:spPr>
          <a:xfrm>
            <a:off x="10259568" y="45720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6B4A"/>
          </a:solidFill>
          <a:ln/>
        </p:spPr>
      </p:sp>
      <p:sp>
        <p:nvSpPr>
          <p:cNvPr id="6" name="Shape 4"/>
          <p:cNvSpPr/>
          <p:nvPr/>
        </p:nvSpPr>
        <p:spPr>
          <a:xfrm>
            <a:off x="10570464" y="45720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A6B6B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45720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A6B6B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0" y="488289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A6B6B"/>
          </a:solidFill>
          <a:ln/>
        </p:spPr>
      </p:sp>
      <p:sp>
        <p:nvSpPr>
          <p:cNvPr id="9" name="Shape 7"/>
          <p:cNvSpPr/>
          <p:nvPr/>
        </p:nvSpPr>
        <p:spPr>
          <a:xfrm>
            <a:off x="9637776" y="488289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A6B6B"/>
          </a:solidFill>
          <a:ln/>
        </p:spPr>
      </p:sp>
      <p:sp>
        <p:nvSpPr>
          <p:cNvPr id="10" name="Shape 8"/>
          <p:cNvSpPr/>
          <p:nvPr/>
        </p:nvSpPr>
        <p:spPr>
          <a:xfrm>
            <a:off x="9948672" y="488289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6B4A"/>
          </a:solidFill>
          <a:ln/>
        </p:spPr>
      </p:sp>
      <p:sp>
        <p:nvSpPr>
          <p:cNvPr id="11" name="Shape 9"/>
          <p:cNvSpPr/>
          <p:nvPr/>
        </p:nvSpPr>
        <p:spPr>
          <a:xfrm>
            <a:off x="10259568" y="488289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A6B6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70464" y="488289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A6B6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81360" y="488289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6B4A"/>
          </a:solidFill>
          <a:ln/>
        </p:spPr>
      </p:sp>
      <p:sp>
        <p:nvSpPr>
          <p:cNvPr id="14" name="Shape 12"/>
          <p:cNvSpPr/>
          <p:nvPr/>
        </p:nvSpPr>
        <p:spPr>
          <a:xfrm>
            <a:off x="9326880" y="51937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A6B6B"/>
          </a:solidFill>
          <a:ln/>
        </p:spPr>
      </p:sp>
      <p:sp>
        <p:nvSpPr>
          <p:cNvPr id="15" name="Shape 13"/>
          <p:cNvSpPr/>
          <p:nvPr/>
        </p:nvSpPr>
        <p:spPr>
          <a:xfrm>
            <a:off x="9637776" y="51937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6B4A"/>
          </a:solidFill>
          <a:ln/>
        </p:spPr>
      </p:sp>
      <p:sp>
        <p:nvSpPr>
          <p:cNvPr id="16" name="Shape 14"/>
          <p:cNvSpPr/>
          <p:nvPr/>
        </p:nvSpPr>
        <p:spPr>
          <a:xfrm>
            <a:off x="9948672" y="51937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A6B6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59568" y="51937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A6B6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70464" y="51937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6B4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81360" y="51937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A6B6B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0" y="550468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6B4A"/>
          </a:solidFill>
          <a:ln/>
        </p:spPr>
      </p:sp>
      <p:sp>
        <p:nvSpPr>
          <p:cNvPr id="21" name="Shape 19"/>
          <p:cNvSpPr/>
          <p:nvPr/>
        </p:nvSpPr>
        <p:spPr>
          <a:xfrm>
            <a:off x="9637776" y="550468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A6B6B"/>
          </a:solidFill>
          <a:ln/>
        </p:spPr>
      </p:sp>
      <p:sp>
        <p:nvSpPr>
          <p:cNvPr id="22" name="Shape 20"/>
          <p:cNvSpPr/>
          <p:nvPr/>
        </p:nvSpPr>
        <p:spPr>
          <a:xfrm>
            <a:off x="9948672" y="550468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A6B6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59568" y="550468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6B4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70464" y="550468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A6B6B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81360" y="550468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A6B6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UPDATE  ·  SEPTEMBER 2026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219456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VR Hydrology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Digital Twin</a:t>
            </a:r>
            <a:endParaRPr lang="en-US" sz="46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977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streamflow model to Meta Quest 3S — a full status review and the plan ahead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Saurabh Kulkarni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This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4360" cy="594360"/>
          </a:xfrm>
          <a:prstGeom prst="roundRect">
            <a:avLst>
              <a:gd name="adj" fmla="val 7692"/>
            </a:avLst>
          </a:prstGeom>
          <a:solidFill>
            <a:srgbClr val="0F4C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459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What's Been Built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0F4C4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3957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vision, recap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0F4C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92608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data-to-headset pipeline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575304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0F4C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45643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&amp; live data pipeline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0F4C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98678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project scaffold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636008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0F4C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51713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status &amp; open items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55080" y="1600200"/>
            <a:ext cx="594360" cy="594360"/>
          </a:xfrm>
          <a:prstGeom prst="roundRect">
            <a:avLst>
              <a:gd name="adj" fmla="val 7692"/>
            </a:avLst>
          </a:prstGeom>
          <a:solidFill>
            <a:srgbClr val="FF6B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508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16459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What's Next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355080" y="2514600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FF6B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23957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12-week build roadmap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55080" y="3044952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FF6B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29400" y="292608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next steps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C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 HYDROLOGY DIGITAL TWIN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 · WHAT'S BEEN BUILT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 Vision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the lab's streamflow forecasting model into an immersive VR digital twin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881360" cy="1234440"/>
          </a:xfrm>
          <a:prstGeom prst="roundRect">
            <a:avLst>
              <a:gd name="adj" fmla="val 2963"/>
            </a:avLst>
          </a:prstGeom>
          <a:solidFill>
            <a:srgbClr val="EFF5F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21992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F4C4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05740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Walk the Watershed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46888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Terrain, river network, and gauge stations in 3D — not flat charts on a screen.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0881360" cy="1234440"/>
          </a:xfrm>
          <a:prstGeom prst="roundRect">
            <a:avLst>
              <a:gd name="adj" fmla="val 2963"/>
            </a:avLst>
          </a:prstGeom>
          <a:solidFill>
            <a:srgbClr val="EFF5F4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639312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F4C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639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47472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Forecasts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88620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a station, pull up streamflow forecasts with uncertainty bounds, on the spot.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0881360" cy="1234440"/>
          </a:xfrm>
          <a:prstGeom prst="roundRect">
            <a:avLst>
              <a:gd name="adj" fmla="val 2963"/>
            </a:avLst>
          </a:prstGeom>
          <a:solidFill>
            <a:srgbClr val="EFF5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5056632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F4C4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056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89204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Stronger Stakeholder Demos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53035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 and collaborators put on the Quest 3S and experience the model directly, no PC required.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C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 HYDROLOGY DIGITAL TWIN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 · WHAT'S BEEN BUILT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Data Becomes a VR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03604" y="1965960"/>
            <a:ext cx="27432" cy="393192"/>
          </a:xfrm>
          <a:prstGeom prst="rect">
            <a:avLst/>
          </a:prstGeom>
          <a:solidFill>
            <a:srgbClr val="C7D8D5"/>
          </a:solidFill>
          <a:ln/>
        </p:spPr>
      </p:sp>
      <p:sp>
        <p:nvSpPr>
          <p:cNvPr id="5" name="Shape 3"/>
          <p:cNvSpPr/>
          <p:nvPr/>
        </p:nvSpPr>
        <p:spPr>
          <a:xfrm>
            <a:off x="1403604" y="2724912"/>
            <a:ext cx="27432" cy="393192"/>
          </a:xfrm>
          <a:prstGeom prst="rect">
            <a:avLst/>
          </a:prstGeom>
          <a:solidFill>
            <a:srgbClr val="C7D8D5"/>
          </a:solidFill>
          <a:ln/>
        </p:spPr>
      </p:sp>
      <p:sp>
        <p:nvSpPr>
          <p:cNvPr id="6" name="Shape 4"/>
          <p:cNvSpPr/>
          <p:nvPr/>
        </p:nvSpPr>
        <p:spPr>
          <a:xfrm>
            <a:off x="1403604" y="3483864"/>
            <a:ext cx="27432" cy="393192"/>
          </a:xfrm>
          <a:prstGeom prst="rect">
            <a:avLst/>
          </a:prstGeom>
          <a:solidFill>
            <a:srgbClr val="C7D8D5"/>
          </a:solidFill>
          <a:ln/>
        </p:spPr>
      </p:sp>
      <p:sp>
        <p:nvSpPr>
          <p:cNvPr id="7" name="Shape 5"/>
          <p:cNvSpPr/>
          <p:nvPr/>
        </p:nvSpPr>
        <p:spPr>
          <a:xfrm>
            <a:off x="1403604" y="4242816"/>
            <a:ext cx="27432" cy="393192"/>
          </a:xfrm>
          <a:prstGeom prst="rect">
            <a:avLst/>
          </a:prstGeom>
          <a:solidFill>
            <a:srgbClr val="C7D8D5"/>
          </a:solidFill>
          <a:ln/>
        </p:spPr>
      </p:sp>
      <p:sp>
        <p:nvSpPr>
          <p:cNvPr id="8" name="Shape 6"/>
          <p:cNvSpPr/>
          <p:nvPr/>
        </p:nvSpPr>
        <p:spPr>
          <a:xfrm>
            <a:off x="1403604" y="5001768"/>
            <a:ext cx="27432" cy="393192"/>
          </a:xfrm>
          <a:prstGeom prst="rect">
            <a:avLst/>
          </a:prstGeom>
          <a:solidFill>
            <a:srgbClr val="C7D8D5"/>
          </a:solidFill>
          <a:ln/>
        </p:spPr>
      </p:sp>
      <p:sp>
        <p:nvSpPr>
          <p:cNvPr id="9" name="Shape 7"/>
          <p:cNvSpPr/>
          <p:nvPr/>
        </p:nvSpPr>
        <p:spPr>
          <a:xfrm>
            <a:off x="1234440" y="16002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F4C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15270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Sources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15087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USGS discharge (Aug 11 – Sep 8, 2026) + NWS climate snapshot (as of Sep 9, 2026) — pulled live by this project's own pipeline, not just assumed to exist.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234440" y="235915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F4C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34440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2286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Preprocessing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806440" y="226771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and formatting in Python — already exists.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234440" y="311810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F4C4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34440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30449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 Forecast Model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02666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Streamflow forecast + uncertainty bounds — already exists.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234440" y="387705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F4C4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34440" y="3877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38039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Export Layer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5806440" y="3785616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→ JSON, built and verified in this project (data-pipeline/).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234440" y="46360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B9C9C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34440" y="4636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828800" y="45628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Unity Application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5806440" y="454456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Terrain, data, UI, model logic — scaffold built; scene assembly is Editor work.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234440" y="53949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B9C9C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234440" y="5394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828800" y="5321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Meta Quest 3S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5806440" y="53035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VR digital twin — the end goal.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marker = already exists or built in this project      Grey marker = built in the Unity Editor (not yet started)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 · WHAT'S BEEN BUILT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Documentation &amp; Data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" cy="548640"/>
          </a:xfrm>
          <a:prstGeom prst="roundRect">
            <a:avLst>
              <a:gd name="adj" fmla="val 8333"/>
            </a:avLst>
          </a:prstGeom>
          <a:solidFill>
            <a:srgbClr val="3A6B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0817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Full phase-by-phase documentation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8308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files covering all 10 build phases, the 12-week pacing plan, pitfalls, and the resource library.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48640" cy="548640"/>
          </a:xfrm>
          <a:prstGeom prst="roundRect">
            <a:avLst>
              <a:gd name="adj" fmla="val 8333"/>
            </a:avLst>
          </a:prstGeom>
          <a:solidFill>
            <a:srgbClr val="3A6B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3405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data pipeline — Phase 5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fetch_live_data.py pulls real USGS discharge + climate on any date interval you pass it; export_station_json.py packages it into a JSON bundle with explicit start/end dates, plus a CSV export.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828800" cy="1051560"/>
          </a:xfrm>
          <a:prstGeom prst="roundRect">
            <a:avLst>
              <a:gd name="adj" fmla="val 3478"/>
            </a:avLst>
          </a:prstGeom>
          <a:solidFill>
            <a:srgbClr val="0F4C4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434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001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stations, live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14600" y="4343400"/>
            <a:ext cx="1828800" cy="1051560"/>
          </a:xfrm>
          <a:prstGeom prst="roundRect">
            <a:avLst>
              <a:gd name="adj" fmla="val 3478"/>
            </a:avLst>
          </a:prstGeom>
          <a:solidFill>
            <a:srgbClr val="0F4C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514600" y="4434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5001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4343400"/>
            <a:ext cx="1828800" cy="1051560"/>
          </a:xfrm>
          <a:prstGeom prst="roundRect">
            <a:avLst>
              <a:gd name="adj" fmla="val 3478"/>
            </a:avLst>
          </a:prstGeom>
          <a:solidFill>
            <a:srgbClr val="0F4C4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80560" y="4434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5001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 needed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5778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 history: Aug 11 – Sep 8, 2026 (29 days)  ·  Climate snapshot: Sep 9, 2026  ·  Forecast: Sep 9 – Sep 15, 2026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1463040"/>
            <a:ext cx="4983480" cy="4343400"/>
          </a:xfrm>
          <a:prstGeom prst="roundRect">
            <a:avLst>
              <a:gd name="adj" fmla="val 1263"/>
            </a:avLst>
          </a:prstGeom>
          <a:solidFill>
            <a:srgbClr val="0F4C4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03720" y="166420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F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JSON — real live values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193852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pulled Aug 11 – Sep 9, 2026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2286000"/>
            <a:ext cx="4434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"stationId": "USGS-08057000",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"Trinity Rv at Dallas, TX",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"latitude": 32.7748517,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"longitude": -96.8219464,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"period": { "start": "2026-08-11",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"end": "2026-09-08" },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"readings": [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"date": "2026-08-11", "dischargeCfs": 437.0 },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29 daily readings ...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"date": "2026-09-08", "dischargeCfs": 421.0 }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"climate": { "avgTempC": 29.0, "avgPrecipMm": 0.0,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"asOfDate": "2026-09-09" },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"soil": { "type": "sandy loam",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"infiltrationRateMmHr": 3.6 },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"forecastPeriod": { "start": "2026-09-09",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"end": "2026-09-15" },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"forecast": [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"date": "2026-09-09", "dischargeCfs": 421.0,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"lowerBound": 389.4, "upperBound": 452.6 }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D7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C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 HYDROLOGY DIGITAL TWIN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 · WHAT'S BEEN BUILT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Unity Project Scaffold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492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749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StationDatabase.cs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source of truth (ScriptableObject)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StationDataLoader.cs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Loads station JSON at runtime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StationData.cs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Typed models matching the JSON schema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StationMarker.cs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Gauge-station prefab, opens its panel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StationPanelController.cs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World-space UI: reading &amp; forecast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LayerToggleController.cs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Soil / climate / river overlay toggles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RiverNetworkRenderer.cs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Starting point for river reaches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417320"/>
            <a:ext cx="4297680" cy="4114800"/>
          </a:xfrm>
          <a:prstGeom prst="roundRect">
            <a:avLst>
              <a:gd name="adj" fmla="val 1333"/>
            </a:avLst>
          </a:prstGeom>
          <a:solidFill>
            <a:srgbClr val="EFF5F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3524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 principle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635240" y="224942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6B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63840" y="21214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ScriptableObject (StationDatabase) holds every station's data.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35240" y="3090672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6B4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63840" y="296265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script reads from it — nothing duplicates the data.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393192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6B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63840" y="380390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Terrain, UI, and model scripts stay decoupled: swapping a dataset or model shouldn't touch the terrain code.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35240" y="477316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FF6B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63840" y="464515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sample_data/ now ships a real live snapshot (USGS + NWS) — generate_sample_data.py still covers fully offline iteration.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C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 HYDROLOGY DIGITAL TWIN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 · WHAT'S BEEN BUILT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Delivery Status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737360"/>
                <a:gridCol w="60350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data pipeline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USGS discharge (Aug 11 – Sep 8, 2026) + NWS climate (as of Sep 9, 2026) now power sample_data/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scaffold (.zip)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70+ files: docs/, data-pipeline/, unity-project/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report (.docx)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summary, structure, and next steps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progress deck (.pptx)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You're looking at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repository push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 GitHub App can't create new repos (403, retried) — needs an empty repo to push into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17720"/>
            <a:ext cx="10881360" cy="1280160"/>
          </a:xfrm>
          <a:prstGeom prst="roundRect">
            <a:avLst>
              <a:gd name="adj" fmla="val 4286"/>
            </a:avLst>
          </a:prstGeom>
          <a:solidFill>
            <a:srgbClr val="EFF5F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47731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close this out: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510235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empty repository at github.com/new (no README/gitignore/license) and share its name — everything gets pushed over in one commit, or push it yourself with the git commands in the project report.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C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 HYDROLOGY DIGITAL TWIN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4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" y="64008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3A6B6B"/>
          </a:solidFill>
          <a:ln/>
        </p:spPr>
      </p:sp>
      <p:sp>
        <p:nvSpPr>
          <p:cNvPr id="4" name="Shape 2"/>
          <p:cNvSpPr/>
          <p:nvPr/>
        </p:nvSpPr>
        <p:spPr>
          <a:xfrm>
            <a:off x="1225296" y="64008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3A6B6B"/>
          </a:solidFill>
          <a:ln/>
        </p:spPr>
      </p:sp>
      <p:sp>
        <p:nvSpPr>
          <p:cNvPr id="5" name="Shape 3"/>
          <p:cNvSpPr/>
          <p:nvPr/>
        </p:nvSpPr>
        <p:spPr>
          <a:xfrm>
            <a:off x="1517904" y="64008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</p:sp>
      <p:sp>
        <p:nvSpPr>
          <p:cNvPr id="6" name="Shape 4"/>
          <p:cNvSpPr/>
          <p:nvPr/>
        </p:nvSpPr>
        <p:spPr>
          <a:xfrm>
            <a:off x="1810512" y="640080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3A6B6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932688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3A6B6B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932688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3A6B6B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932688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</p:sp>
      <p:sp>
        <p:nvSpPr>
          <p:cNvPr id="10" name="Shape 8"/>
          <p:cNvSpPr/>
          <p:nvPr/>
        </p:nvSpPr>
        <p:spPr>
          <a:xfrm>
            <a:off x="1517904" y="932688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3A6B6B"/>
          </a:solidFill>
          <a:ln/>
        </p:spPr>
      </p:sp>
      <p:sp>
        <p:nvSpPr>
          <p:cNvPr id="11" name="Shape 9"/>
          <p:cNvSpPr/>
          <p:nvPr/>
        </p:nvSpPr>
        <p:spPr>
          <a:xfrm>
            <a:off x="1810512" y="932688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3A6B6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122529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3A6B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32688" y="122529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</p:sp>
      <p:sp>
        <p:nvSpPr>
          <p:cNvPr id="14" name="Shape 12"/>
          <p:cNvSpPr/>
          <p:nvPr/>
        </p:nvSpPr>
        <p:spPr>
          <a:xfrm>
            <a:off x="1225296" y="122529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3A6B6B"/>
          </a:solidFill>
          <a:ln/>
        </p:spPr>
      </p:sp>
      <p:sp>
        <p:nvSpPr>
          <p:cNvPr id="15" name="Shape 13"/>
          <p:cNvSpPr/>
          <p:nvPr/>
        </p:nvSpPr>
        <p:spPr>
          <a:xfrm>
            <a:off x="1517904" y="122529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3A6B6B"/>
          </a:solidFill>
          <a:ln/>
        </p:spPr>
      </p:sp>
      <p:sp>
        <p:nvSpPr>
          <p:cNvPr id="16" name="Shape 14"/>
          <p:cNvSpPr/>
          <p:nvPr/>
        </p:nvSpPr>
        <p:spPr>
          <a:xfrm>
            <a:off x="1810512" y="1225296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TWO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1546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What's Next</a:t>
            </a:r>
            <a:endParaRPr lang="en-US" sz="4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12-week build roadmap, and what to start this week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A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TWO · WHAT'S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12-Week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3689604"/>
            <a:ext cx="11091672" cy="27432"/>
          </a:xfrm>
          <a:prstGeom prst="rect">
            <a:avLst/>
          </a:prstGeom>
          <a:solidFill>
            <a:srgbClr val="C7D8D5"/>
          </a:solidFill>
          <a:ln/>
        </p:spPr>
      </p:sp>
      <p:sp>
        <p:nvSpPr>
          <p:cNvPr id="5" name="Shape 3"/>
          <p:cNvSpPr/>
          <p:nvPr/>
        </p:nvSpPr>
        <p:spPr>
          <a:xfrm>
            <a:off x="1326642" y="355701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664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61973" y="3502152"/>
            <a:ext cx="21946" cy="201168"/>
          </a:xfrm>
          <a:prstGeom prst="rect">
            <a:avLst/>
          </a:prstGeom>
          <a:solidFill>
            <a:srgbClr val="C7D8D5"/>
          </a:solidFill>
          <a:ln/>
        </p:spPr>
      </p:sp>
      <p:sp>
        <p:nvSpPr>
          <p:cNvPr id="8" name="Shape 6"/>
          <p:cNvSpPr/>
          <p:nvPr/>
        </p:nvSpPr>
        <p:spPr>
          <a:xfrm>
            <a:off x="627126" y="1901952"/>
            <a:ext cx="1691640" cy="1600200"/>
          </a:xfrm>
          <a:prstGeom prst="roundRect">
            <a:avLst>
              <a:gd name="adj" fmla="val 2857"/>
            </a:avLst>
          </a:prstGeom>
          <a:solidFill>
            <a:srgbClr val="0F4C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3430" y="2020824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1–2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3430" y="2286000"/>
            <a:ext cx="1399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Foundations &amp; Setup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3430" y="2889504"/>
            <a:ext cx="1399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E4E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+ Meta XR SDK, Developer Mode.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3175254" y="355701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175254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0585" y="3849624"/>
            <a:ext cx="21946" cy="201168"/>
          </a:xfrm>
          <a:prstGeom prst="rect">
            <a:avLst/>
          </a:prstGeom>
          <a:solidFill>
            <a:srgbClr val="C7D8D5"/>
          </a:solidFill>
          <a:ln/>
        </p:spPr>
      </p:sp>
      <p:sp>
        <p:nvSpPr>
          <p:cNvPr id="15" name="Shape 13"/>
          <p:cNvSpPr/>
          <p:nvPr/>
        </p:nvSpPr>
        <p:spPr>
          <a:xfrm>
            <a:off x="2475738" y="4050792"/>
            <a:ext cx="1691640" cy="1600200"/>
          </a:xfrm>
          <a:prstGeom prst="roundRect">
            <a:avLst>
              <a:gd name="adj" fmla="val 2857"/>
            </a:avLst>
          </a:prstGeom>
          <a:solidFill>
            <a:srgbClr val="3A6B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622042" y="4169664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3–4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622042" y="4434840"/>
            <a:ext cx="1399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First VR Scene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622042" y="5038344"/>
            <a:ext cx="1399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E4E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deploy “Hello World”.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5023866" y="355701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3866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59197" y="3502152"/>
            <a:ext cx="21946" cy="201168"/>
          </a:xfrm>
          <a:prstGeom prst="rect">
            <a:avLst/>
          </a:prstGeom>
          <a:solidFill>
            <a:srgbClr val="C7D8D5"/>
          </a:solidFill>
          <a:ln/>
        </p:spPr>
      </p:sp>
      <p:sp>
        <p:nvSpPr>
          <p:cNvPr id="22" name="Shape 20"/>
          <p:cNvSpPr/>
          <p:nvPr/>
        </p:nvSpPr>
        <p:spPr>
          <a:xfrm>
            <a:off x="4324350" y="1901952"/>
            <a:ext cx="1691640" cy="1600200"/>
          </a:xfrm>
          <a:prstGeom prst="roundRect">
            <a:avLst>
              <a:gd name="adj" fmla="val 2857"/>
            </a:avLst>
          </a:prstGeom>
          <a:solidFill>
            <a:srgbClr val="0F4C4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470654" y="2020824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5–6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470654" y="2286000"/>
            <a:ext cx="1399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Terrain &amp; River Network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470654" y="2889504"/>
            <a:ext cx="1399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E4E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Terrain, reaches, station markers.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6872478" y="355701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72478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07809" y="3849624"/>
            <a:ext cx="21946" cy="201168"/>
          </a:xfrm>
          <a:prstGeom prst="rect">
            <a:avLst/>
          </a:prstGeom>
          <a:solidFill>
            <a:srgbClr val="C7D8D5"/>
          </a:solidFill>
          <a:ln/>
        </p:spPr>
      </p:sp>
      <p:sp>
        <p:nvSpPr>
          <p:cNvPr id="29" name="Shape 27"/>
          <p:cNvSpPr/>
          <p:nvPr/>
        </p:nvSpPr>
        <p:spPr>
          <a:xfrm>
            <a:off x="6172962" y="4050792"/>
            <a:ext cx="1691640" cy="1600200"/>
          </a:xfrm>
          <a:prstGeom prst="roundRect">
            <a:avLst>
              <a:gd name="adj" fmla="val 2857"/>
            </a:avLst>
          </a:prstGeom>
          <a:solidFill>
            <a:srgbClr val="3A6B6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19266" y="4169664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7–8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319266" y="4434840"/>
            <a:ext cx="1399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 Data Integration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319266" y="5038344"/>
            <a:ext cx="1399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E4E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 &amp; climate now live — soil + real ML forecast next.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8721090" y="355701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4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21090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856421" y="3502152"/>
            <a:ext cx="21946" cy="201168"/>
          </a:xfrm>
          <a:prstGeom prst="rect">
            <a:avLst/>
          </a:prstGeom>
          <a:solidFill>
            <a:srgbClr val="C7D8D5"/>
          </a:solidFill>
          <a:ln/>
        </p:spPr>
      </p:sp>
      <p:sp>
        <p:nvSpPr>
          <p:cNvPr id="36" name="Shape 34"/>
          <p:cNvSpPr/>
          <p:nvPr/>
        </p:nvSpPr>
        <p:spPr>
          <a:xfrm>
            <a:off x="8021574" y="1901952"/>
            <a:ext cx="1691640" cy="1600200"/>
          </a:xfrm>
          <a:prstGeom prst="roundRect">
            <a:avLst>
              <a:gd name="adj" fmla="val 2857"/>
            </a:avLst>
          </a:prstGeom>
          <a:solidFill>
            <a:srgbClr val="0F4C4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167878" y="2020824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9–10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8167878" y="2286000"/>
            <a:ext cx="1399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Dashboards &amp; Model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167878" y="2889504"/>
            <a:ext cx="1399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E4E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Charts, panels, precomputed forecasts.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10569702" y="355701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4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56970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705033" y="3849624"/>
            <a:ext cx="21946" cy="201168"/>
          </a:xfrm>
          <a:prstGeom prst="rect">
            <a:avLst/>
          </a:prstGeom>
          <a:solidFill>
            <a:srgbClr val="C7D8D5"/>
          </a:solidFill>
          <a:ln/>
        </p:spPr>
      </p:sp>
      <p:sp>
        <p:nvSpPr>
          <p:cNvPr id="43" name="Shape 41"/>
          <p:cNvSpPr/>
          <p:nvPr/>
        </p:nvSpPr>
        <p:spPr>
          <a:xfrm>
            <a:off x="9870186" y="4050792"/>
            <a:ext cx="1691640" cy="1600200"/>
          </a:xfrm>
          <a:prstGeom prst="roundRect">
            <a:avLst>
              <a:gd name="adj" fmla="val 2857"/>
            </a:avLst>
          </a:prstGeom>
          <a:solidFill>
            <a:srgbClr val="3A6B6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0016490" y="4169664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11–12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10016490" y="4434840"/>
            <a:ext cx="1399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Assembly &amp; Deploy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016490" y="5038344"/>
            <a:ext cx="1399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E4E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scene, perf pass, ship it.</a:t>
            </a:r>
            <a:endParaRPr lang="en-US" sz="87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C8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 HYDROLOGY DIGITAL TWIN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152144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Immediate Next Steps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D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this week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154F4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FF6B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346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Create the GitHub repo &amp; push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1927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empty repo and share the name — everything gets pushed over immediately.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154F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19456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FF6B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8346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Install Unity + Meta XR Core SDK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31927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6000.0.66f2+, Android Build Support, Developer Mode on the Quest 3S.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154F4F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4348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FF6B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0749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Complete the “Hello World” tutorial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55955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the full toolchain and headset connection work end to end.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20624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154F4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4348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FF6B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50749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Finish real-data integration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555955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 &amp; climate are live now (USGS + NWS) — soil and the real forecast model are what's left.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2636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along the way? Bring them to the weekly check-in — don't stay stuck alone.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2026-09-09T14:20:23Z</dcterms:created>
  <dcterms:modified xsi:type="dcterms:W3CDTF">2026-09-09T14:20:23Z</dcterms:modified>
</cp:coreProperties>
</file>